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louis97/asistente-financiero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Asistente bursátil para el inversor value colombiano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Entrega 1 · MINE-4101 Ciencia de Datos Aplicada · Universidad de los Andes</a:t>
            </a:r>
            <a:br/>
            <a:br/>
            <a:r>
              <a:rPr/>
              <a:t>Louis Gualtero · trabajo individual autorizado por el profesor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Octubre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Inversor value colombiano</a:t>
            </a:r>
            <a:r>
              <a:rPr/>
              <a:t> que compra acciones de EE.UU.: </a:t>
            </a:r>
            <a:r>
              <a:rPr i="1"/>
              <a:t>screener</a:t>
            </a:r>
            <a:r>
              <a:rPr/>
              <a:t>, fundamentales y gráfico en pantallas separadas; riesgo “a ojo”; sin registro de decisiones.</a:t>
            </a:r>
          </a:p>
          <a:p>
            <a:pPr lvl="0"/>
            <a:r>
              <a:rPr/>
              <a:t>Evidencia cualitativa (un participante + autor; muestra no representativa): </a:t>
            </a:r>
            <a:r>
              <a:rPr b="1"/>
              <a:t>2 a 15 cambios de pantalla por activo</a:t>
            </a:r>
            <a:r>
              <a:rPr/>
              <a:t>, </a:t>
            </a:r>
            <a:r>
              <a:rPr b="1"/>
              <a:t>2 a 3 horas</a:t>
            </a:r>
            <a:r>
              <a:rPr/>
              <a:t> por reporte trimestral.</a:t>
            </a:r>
          </a:p>
          <a:p>
            <a:pPr lvl="0"/>
            <a:r>
              <a:rPr/>
              <a:t>Contexto: Mercado Global Colombiano </a:t>
            </a:r>
            <a:r>
              <a:rPr b="1"/>
              <a:t>+134 %</a:t>
            </a:r>
            <a:r>
              <a:rPr/>
              <a:t> 2024→2025 (BVC); +87 % inversionistas desde 2023 (SFC).</a:t>
            </a:r>
          </a:p>
          <a:p>
            <a:pPr lvl="0"/>
            <a:r>
              <a:rPr/>
              <a:t>KPI: tiempo &lt; 5 min, 1 pantalla, latencia ≤ 1 día, 100 % decisiones registradas.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Producto: seis niveles, tres lecturas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6 niveles</a:t>
            </a:r>
            <a:r>
              <a:rPr/>
              <a:t> definidos por el usuario (3 de entrada, 3 de salida), en precio y en múltiplo.</a:t>
            </a:r>
          </a:p>
          <a:p>
            <a:pPr lvl="0"/>
            <a:r>
              <a:rPr b="1"/>
              <a:t>3 lecturas</a:t>
            </a:r>
            <a:r>
              <a:rPr/>
              <a:t> por nivel: fundamental (percentiles del P/E normalizado), técnica (SVM, N = 60 días), probabilística (simulación por bloques de la acción y del XLP).</a:t>
            </a:r>
          </a:p>
          <a:p>
            <a:pPr lvl="0"/>
            <a:r>
              <a:rPr b="1"/>
              <a:t>Panel de riesgo</a:t>
            </a:r>
            <a:r>
              <a:rPr/>
              <a:t> descriptivo: volatilidad, percentil 5, caída máxima, caídas fuertes, dependencia del sector.</a:t>
            </a:r>
          </a:p>
          <a:p>
            <a:pPr lvl="0"/>
            <a:r>
              <a:rPr b="1"/>
              <a:t>Alcance de la entrega 1</a:t>
            </a:r>
            <a:r>
              <a:rPr/>
              <a:t>: industria piloto consumo defensivo (21 empresas + SPY + XLP; KHC excluida).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Mockup (v2)</a:t>
            </a:r>
          </a:p>
        </p:txBody>
      </p:sp>
      <p:pic>
        <p:nvPicPr>
          <p:cNvPr descr="assets/mock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36900" y="1193800"/>
            <a:ext cx="288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3b. Feedback del inversor y respuesta en el mockup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Validación 2026-10-18: sesión asíncrona por mensajería con un inversor; no respondió el formulario y entregó feedback libre.</a:t>
            </a:r>
          </a:p>
          <a:p>
            <a:pPr lvl="0"/>
            <a:r>
              <a:rPr b="1"/>
              <a:t>Aceptado en v2 (H1 definiciones, H2 columnas separadas y notas aparte, H3 columna % vs. precio actual):</a:t>
            </a:r>
            <a:r>
              <a:rPr/>
              <a:t> franja “Cómo leer esta pantalla” con 8 definiciones de una línea (incluye SVM); P/E y P/B en columnas separadas; columna “% vs. precio actual”; panel de riesgo con 5 filas espaciadas; marca descriptiva del precio actual sin veredicto.</a:t>
            </a:r>
          </a:p>
          <a:p>
            <a:pPr lvl="0"/>
            <a:r>
              <a:rPr b="1"/>
              <a:t>No se adopta (H4):</a:t>
            </a:r>
            <a:r>
              <a:rPr/>
              <a:t> el “veredicto” que pidió el participante choca con RN1 y con la regla de no recomendar.</a:t>
            </a:r>
          </a:p>
          <a:p>
            <a:pPr lvl="0"/>
            <a:r>
              <a:rPr b="1"/>
              <a:t>Aplazado al punto 7 (H5):</a:t>
            </a:r>
            <a:r>
              <a:rPr/>
              <a:t> prototipo navegable con más usuarios y medición de los KPI 1, 2 y 5 (sin línea base en esta sesión).</a:t>
            </a:r>
          </a:p>
          <a:p>
            <a:pPr lvl="0"/>
            <a:r>
              <a:rPr/>
              <a:t>Técnica (SVM, “se entrena en la entrega 2”): </a:t>
            </a:r>
            <a:r>
              <a:rPr b="1"/>
              <a:t>21 / 42 / 71 %</a:t>
            </a:r>
            <a:r>
              <a:rPr/>
              <a:t> frente a línea base </a:t>
            </a:r>
            <a:r>
              <a:rPr b="1"/>
              <a:t>16 / 35 / 66 %</a:t>
            </a:r>
            <a:r>
              <a:rPr/>
              <a:t>. Probabilística: </a:t>
            </a:r>
            <a:r>
              <a:rPr b="1"/>
              <a:t>81 / 62 / 37 %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Ética y regulación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Ley 964 de 2005 y Decreto 2555 de 2010</a:t>
            </a:r>
            <a:r>
              <a:rPr/>
              <a:t>: el producto no recomienda compra ni venta y no perfila al usuario; leyenda del art. 2.40.1.1.3 en cada pantalla.</a:t>
            </a:r>
          </a:p>
          <a:p>
            <a:pPr lvl="0"/>
            <a:r>
              <a:rPr b="1"/>
              <a:t>Habeas Data (Ley 1581 de 2012)</a:t>
            </a:r>
            <a:r>
              <a:rPr/>
              <a:t>: en la validación asíncrona del 2026-10-18 el participante participó de forma voluntaria y no se recogieron datos personales ni su nombre; el guion prevé consentimiento previo e informado bajo código para las sesiones moderadas futuras (ver </a:t>
            </a:r>
            <a:r>
              <a:rPr>
                <a:latin typeface="Courier New"/>
              </a:rPr>
              <a:t>docs/entrega_1/03_etica_legal.md</a:t>
            </a:r>
            <a:r>
              <a:rPr/>
              <a:t> §3.2).</a:t>
            </a:r>
          </a:p>
          <a:p>
            <a:pPr lvl="0"/>
            <a:r>
              <a:rPr b="1"/>
              <a:t>Transparencia</a:t>
            </a:r>
            <a:r>
              <a:rPr/>
              <a:t>: SVM lineal con coeficientes legibles; probabilidad junto a su línea base y su desempeño histórico.</a:t>
            </a:r>
          </a:p>
          <a:p>
            <a:pPr lvl="0"/>
            <a:r>
              <a:rPr b="1"/>
              <a:t>Sin look-ahead ni data snooping</a:t>
            </a:r>
            <a:r>
              <a:rPr/>
              <a:t>: fecha </a:t>
            </a:r>
            <a:r>
              <a:rPr>
                <a:latin typeface="Courier New"/>
              </a:rPr>
              <a:t>filed</a:t>
            </a:r>
            <a:r>
              <a:rPr/>
              <a:t>, ventana expansiva, 15 pruebas declaradas antes, Bonferroni en P4.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Enfoque analítico (6 preguntas, 1 hipótesis cada una)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6223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Plantilla por hipótesis:</a:t>
            </a:r>
            <a:r>
              <a:rPr/>
              <a:t> umbral → H0/H1 → IC95 por bootstrap → decisión.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943100"/>
          <a:ext cx="8229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Pregunta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Decide en la herramienta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¿Caídas semanales fuertes &gt; normal?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Panel de riesgo: “frecuencia de caídas fuertes”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¿Barato sube P/E norm. &gt; caro a 3 años?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Lectura fundam.: percentil P/E norm. + adv. deterioro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¿Barato gana al XLP a 3 años?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Exceso sobre XLP </a:t>
                      </a:r>
                      <a:r>
                        <a:rPr b="1"/>
                        <a:t>no entra como señal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¿Indicador técnico mejora, de forma lineal, la AUC del modelo A de magnitud?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Lectura técnica: SVM solo de magnitud; SVM RBF en entrega 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¿XLP agrega ΔR² al SPY?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Panel de riesgo + simulación acción + XLP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¿La turbulencia se agrupa?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Lectura probab.: simulación por bloques, k·σ252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5b. Qué mide P1 y qué es el P/E normalizado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Caída semanal fuerte (P1):</a:t>
            </a:r>
            <a:r>
              <a:rPr/>
              <a:t> semana en que la acción cae más de 2 veces su volatilidad semanal del último año (</a:t>
            </a:r>
            <a:r>
              <a:rPr>
                <a:latin typeface="Courier New"/>
              </a:rPr>
              <a:t>z &lt; −2</a:t>
            </a:r>
            <a:r>
              <a:rPr/>
              <a:t>). Con retornos normales y σ conocida pasaría en el 2,3 % de las semanas (≈ 1 de cada 44, ≈ 1,2/año); con σ estimada, la tasa comparable calibrada por simulación es ≈ 2,55 % (≈ 1 de cada 39, ≈ 1,3/año). El umbral de 3,83 % (≈ 1 de cada 26, ≈ 2/año) agotaría más seguido el presupuesto de pérdida.</a:t>
            </a:r>
          </a:p>
          <a:p>
            <a:pPr lvl="0"/>
            <a:r>
              <a:rPr b="1"/>
              <a:t>P/E normalizado:</a:t>
            </a:r>
            <a:r>
              <a:rPr/>
              <a:t> precio ÷ </a:t>
            </a:r>
            <a:r>
              <a:rPr b="1"/>
              <a:t>EPS promedio de 3 años</a:t>
            </a:r>
            <a:r>
              <a:rPr/>
              <a:t> (utilidad neta de 12 trimestres ÷ 3 ÷ acciones). Evita que un solo año excepcional haga parecer barata o cara una acción.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Datos (tres fuentes gratuitas, instantánea fechada)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yfinance</a:t>
            </a:r>
            <a:r>
              <a:rPr/>
              <a:t>: 21 344 filas semanales × 23 tickers desde 2009; precios ajustados y sin ajustar por dividendos.</a:t>
            </a:r>
          </a:p>
          <a:p>
            <a:pPr lvl="0"/>
            <a:r>
              <a:rPr b="1"/>
              <a:t>SEC EDGAR</a:t>
            </a:r>
            <a:r>
              <a:rPr/>
              <a:t>: hechos XBRL de los 10-K y 10-Q con fecha </a:t>
            </a:r>
            <a:r>
              <a:rPr>
                <a:latin typeface="Courier New"/>
              </a:rPr>
              <a:t>filed</a:t>
            </a:r>
            <a:r>
              <a:rPr/>
              <a:t>; el P/E usa el EPS TTM reconstruido con los 10-Q.</a:t>
            </a:r>
          </a:p>
          <a:p>
            <a:pPr lvl="0"/>
            <a:r>
              <a:rPr b="1"/>
              <a:t>Damodaran</a:t>
            </a:r>
            <a:r>
              <a:rPr/>
              <a:t>: múltiplos y márgenes por industria.</a:t>
            </a:r>
          </a:p>
          <a:p>
            <a:pPr lvl="0"/>
            <a:r>
              <a:rPr/>
              <a:t>Calidad en nb02: 9 dimensiones y 5 niveles; 0 nulos en precios ajustados, 0 duplicados; TTM válido en 1.308 de 1.434 trimestres (91,2 %).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EDA: resultados por hipótesis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Estimado · IC95 · Decisión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3,08 % (≈ 1,6/año) · [2,46; 3,92] % (≈ 1,3–2,0/año) · </a:t>
                      </a:r>
                      <a:r>
                        <a:rPr b="1"/>
                        <a:t>no se rechaza H0</a:t>
                      </a:r>
                      <a:r>
                        <a:rPr/>
                        <a:t>, no accionable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+0,153 · [+0,091; +0,221] · </a:t>
                      </a:r>
                      <a:r>
                        <a:rPr b="1"/>
                        <a:t>se rechaza H0</a:t>
                      </a:r>
                      <a:r>
                        <a:rPr/>
                        <a:t>, accionable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+0,006 · [−0,032; +0,049] · </a:t>
                      </a:r>
                      <a:r>
                        <a:rPr b="1"/>
                        <a:t>no se rechaza H0</a:t>
                      </a:r>
                      <a:r>
                        <a:rPr/>
                        <a:t>, no accionable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indicadores con IC que cruzan 0 · </a:t>
                      </a:r>
                      <a:r>
                        <a:rPr b="1"/>
                        <a:t>no se rechaza H0</a:t>
                      </a:r>
                      <a:r>
                        <a:rPr/>
                        <a:t> (×7)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ΔR² 0,225 · [+0,175; +0,291] · </a:t>
                      </a:r>
                      <a:r>
                        <a:rPr b="1"/>
                        <a:t>se rechaza H0</a:t>
                      </a:r>
                      <a:r>
                        <a:rPr/>
                        <a:t>, accionable (confirmatoria)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P6 d.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P(T|T) 0,305 · [0,275; 0,340] · </a:t>
                      </a:r>
                      <a:r>
                        <a:rPr b="1"/>
                        <a:t>se rechaza H0</a:t>
                      </a:r>
                      <a:r>
                        <a:rPr/>
                        <a:t>, magnitud incierta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P2: barato sube más, trampa de valor afirmada como asociación</a:t>
            </a:r>
          </a:p>
        </p:txBody>
      </p:sp>
      <p:pic>
        <p:nvPicPr>
          <p:cNvPr descr="assets/nb04_p2_descomposic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Barato − caro: </a:t>
            </a:r>
            <a:r>
              <a:rPr b="1"/>
              <a:t>+0,153 anualizado en log</a:t>
            </a:r>
            <a:r>
              <a:rPr/>
              <a:t> (IC95 por empresa [+0,091; +0,221]). La </a:t>
            </a:r>
            <a:r>
              <a:rPr b="1"/>
              <a:t>diferencia barato − caro</a:t>
            </a:r>
            <a:r>
              <a:rPr/>
              <a:t> reparte +0,46 (3 años) en Δlog(precio) +0,014 (IC95 [−0,115; +0,155], cruza 0) y Δlog(EPS prom 3a) −0,444 (IC95 [−0,693; −0,210], excluye 0): </a:t>
            </a:r>
            <a:r>
              <a:rPr b="1"/>
              <a:t>trampa de valor afirmada como asociación</a:t>
            </a:r>
            <a:r>
              <a:rPr/>
              <a:t>. nb04 §2.7–§2.8.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P4: ningún indicador aporta, de forma lineal, sobre el modelo de magnitud</a:t>
            </a:r>
          </a:p>
        </p:txBody>
      </p:sp>
      <p:pic>
        <p:nvPicPr>
          <p:cNvPr descr="assets/nb04_p4_zona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ΔAUC frente al modelo A (AUC </a:t>
            </a:r>
            <a:r>
              <a:rPr b="1"/>
              <a:t>0,577</a:t>
            </a:r>
            <a:r>
              <a:rPr/>
              <a:t> en la submuestra; base del SVM 0,591 sobre todas las filas): 7 IC95 (Bonferroni ≈ 99,3 %) cruzan 0. P4 mide </a:t>
            </a:r>
            <a:r>
              <a:rPr b="1"/>
              <a:t>aporte lineal</a:t>
            </a:r>
            <a:r>
              <a:rPr/>
              <a:t>; §5.5 sugiere un patrón no lineal en </a:t>
            </a:r>
            <a:r>
              <a:rPr>
                <a:latin typeface="Courier New"/>
              </a:rPr>
              <a:t>dist_sma50</a:t>
            </a:r>
            <a:r>
              <a:rPr/>
              <a:t> y </a:t>
            </a:r>
            <a:r>
              <a:rPr>
                <a:latin typeface="Courier New"/>
              </a:rPr>
              <a:t>dist_sma200</a:t>
            </a:r>
            <a:r>
              <a:rPr/>
              <a:t>. Consecuencia: </a:t>
            </a:r>
            <a:r>
              <a:rPr>
                <a:latin typeface="Courier New"/>
              </a:rPr>
              <a:t>variables_svm = {|r_t|, σ20/σ252, σ252}</a:t>
            </a:r>
            <a:r>
              <a:rPr/>
              <a:t>; la entrega 2 prueba el SVM RBF. nb04 §5.3 y §5.5.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Conclusiones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Insights</a:t>
            </a:r>
            <a:r>
              <a:rPr/>
              <a:t>: niveles en k·σ252, N = 60; simulación por bloques de la acción + XLP; exceso sobre XLP </a:t>
            </a:r>
            <a:r>
              <a:rPr b="1"/>
              <a:t>no entra como señal</a:t>
            </a:r>
            <a:r>
              <a:rPr/>
              <a:t>; marca “industria no validada” fuera del piloto.</a:t>
            </a:r>
          </a:p>
          <a:p>
            <a:pPr lvl="0"/>
            <a:r>
              <a:rPr b="1"/>
              <a:t>Limitaciones</a:t>
            </a:r>
            <a:r>
              <a:rPr/>
              <a:t>: una industria piloto; supervivencia; 3 años (no 5–10); P5 confirmatoria; P4 con fuga de selección y solo mide aporte lineal; validación del mockup con un solo inversor, asíncrona, y KPI 1, 2 y 5 sin línea base.</a:t>
            </a:r>
          </a:p>
          <a:p>
            <a:pPr lvl="0"/>
            <a:r>
              <a:rPr b="1"/>
              <a:t>Próximos pasos</a:t>
            </a:r>
            <a:r>
              <a:rPr/>
              <a:t>: entrenar el SVM (lineal y RBF para captar aportes no lineales que P4 no detecta) con corte cronológico, simulación por bloques, </a:t>
            </a:r>
            <a:r>
              <a:rPr b="1"/>
              <a:t>prototipo navegable con más usuarios</a:t>
            </a:r>
            <a:r>
              <a:rPr/>
              <a:t> y medición de KPI, segunda industria.</a:t>
            </a:r>
          </a:p>
          <a:p>
            <a:pPr lvl="0"/>
            <a:r>
              <a:rPr/>
              <a:t>Repositorio: </a:t>
            </a:r>
            <a:r>
              <a:rPr>
                <a:hlinkClick r:id="rId2"/>
              </a:rPr>
              <a:t>https://github.com/louis97/asistente-financiero</a:t>
            </a:r>
            <a:r>
              <a:rPr/>
              <a:t>. Video: https://youtu.be/NGZdh3TD46E.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Asistente bursátil para el inversor value colombiano</dc:title>
  <dc:creator>Louis Gualtero · trabajo individual autorizado por el profesor</dc:creator>
  <cp:keywords/>
  <dcterms:created xsi:type="dcterms:W3CDTF">2026-10-19T03:01:18Z</dcterms:created>
  <dcterms:modified xsi:type="dcterms:W3CDTF">2026-10-19T03:01:18Z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olortheme">
    <vt:lpwstr>default</vt:lpwstr>
  </property>
  <property fmtid="{D5CDD505-2E9C-101B-9397-08002B2CF9AE}" pid="4" name="date">
    <vt:lpwstr>Octubre 2026</vt:lpwstr>
  </property>
  <property fmtid="{D5CDD505-2E9C-101B-9397-08002B2CF9AE}" pid="5" name="mainfont">
    <vt:lpwstr>Arial Unicode MS</vt:lpwstr>
  </property>
  <property fmtid="{D5CDD505-2E9C-101B-9397-08002B2CF9AE}" pid="6" name="monofont">
    <vt:lpwstr>Courier New</vt:lpwstr>
  </property>
  <property fmtid="{D5CDD505-2E9C-101B-9397-08002B2CF9AE}" pid="7" name="sansfont">
    <vt:lpwstr>Arial Unicode MS</vt:lpwstr>
  </property>
  <property fmtid="{D5CDD505-2E9C-101B-9397-08002B2CF9AE}" pid="8" name="subtitle">
    <vt:lpwstr>Entrega 1 · MINE-4101 Ciencia de Datos Aplicada · Universidad de los Andes</vt:lpwstr>
  </property>
  <property fmtid="{D5CDD505-2E9C-101B-9397-08002B2CF9AE}" pid="9" name="theme">
    <vt:lpwstr>default</vt:lpwstr>
  </property>
</Properties>
</file>