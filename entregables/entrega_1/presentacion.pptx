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Hola, soy Louis Gualtero. Les presento la primera entrega de mi proyecto: un asistente para el inversor colombiano que compra acciones de Estados Unidos buscando empresas a buen precio. En una sola pantalla, el inversor ve a qué precios piensa comprar y vender, y qué dicen los datos sobre esos precios.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Hoy, para analizar una acción, el inversor salta entre un buscador, los estados financieros y el gráfico del precio. Con uno conté entre 2 y 15 cambios de pantalla por acción, y de 2 a 3 horas por reporte trimestral. El riesgo se mide a ojo y las decisiones no quedan registradas. 
El grupo crece: el mercado por el que los colombianos compran acciones extranjeras creció 134 % en un año. 
Las metas: menos de 5 minutos, una pantalla, niveles al día tras cada reporte, todas las decisiones registradas y, en encuesta, al menos 4 de 5 en claridad, confianza y explicación.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herramienta se construye con tres piezas: el modelo, una API y el dashboard; en esta entrega solo se diseñan. El usuario escribe seis precios: tres de entrada —muy barata, barata y a su múltiplo habitual— y tres de salida —escenario negativo, base y positivo—. Esos precios salen de su valoración; la herramienta no la calcula. Lee cada precio de tres formas. 
La fundamental dice si está barata frente a su historia y su industria. La técnica, con un SVM, estima la probabilidad de que toque el nivel en 60 días hábiles. La probabilística simula caminos para ver qué tan alcanzables son los precios de venta.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mostré el diseño a un inversor. No respondió el formulario, pero dejó catorce observaciones por escrito. La principal: no entendía de dónde venían términos como P/E —el precio dividido por la utilidad— ni “probabilística”, ni el número del modelo. Por eso la versión dos agrega ocho definiciones, separa P/E y P/B, y muestra cuánto se aleja cada precio del actual. También pidió que dijera “compre” o “venda”; no lo adopté, porque informa y no recomienda. Queda un prototipo con más personas para medir tiempo, pantallas y confianza.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Colombia, recomendar inversiones es una actividad vigilada. Por eso la herramienta nunca dice “compre” ni “venda”, no perfila al usuario y muestra la advertencia legal en cada pantalla. El inversor participó de forma voluntaria y no guardo su nombre. Para que se pueda confiar sin creer a ciegas, el modelo es fácil de explicar y cada probabilidad va al lado de una referencia simple. Y para no engañarme, cada cálculo usa solo lo publicado hasta ese día, y las quince pruebas se definieron antes de correrlas.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Elegí una industria piloto, consumo defensivo: alimentos, bebidas, aseo y tabaco. Son veintiuna empresas, más el mercado y el sector, desde 2009. Planteé seis preguntas de negocio, con la misma receta: fijar qué diferencia sería útil, plantear la hipótesis, estimar un intervalo de confianza y decidir. El modelo técnico predice si el precio toca el nivel en 60 días hábiles; entrena hasta 2018 y se prueba desde 2019. La base a superar ordena bien un par de casos el 59 % de las veces, AUC 0,591; el modelo debe superarla.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resultado decide algo. Uno: las caídas fuertes no son más frecuentes, cerca de 1,6 al año; el panel la muestra tal cual. 
Dos: las baratas dejan de estarlo en tres años y lo hacen junto con una caída de sus utilidades frente a las caras; el precio sube casi igual. Es asociación, no causa; la lectura fundamental lleva el aviso de posible trampa de valor. 
Tres: las baratas no le ganan al sector; no entra como señal. Cuatro: ningún indicador mejoró linealmente el modelo que usa solo el tamaño de los movimientos; queda probarlos con uno no lineal. Cinco: el sector agrega información al mercado, como se esperaba. Seis: los turbulentos vienen juntos; la simulación toma semanas seguidas.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cerrar: lo que aprendí ya define la herramienta. Los niveles se miden en volatilidad, la simulación usa la acción y su sector y la lectura fundamental lleva un aviso. Las limitaciones son una sola industria, solo empresas que siguen existiendo, un solo inversor en sesión asíncrona y los KPI 1, 2 y 5 sin línea base. Los próximos pasos: entrenar el modelo, construir la simulación, probar un prototipo con más usuarios y sumar otra industria.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082030"/>
            <a:ext cx="10566400" cy="58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73535"/>
            <a:ext cx="10566400" cy="4071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082030"/>
            <a:ext cx="10566400" cy="58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000" dirty="0">
                <a:solidFill>
                  <a:srgbClr val="14213D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973535"/>
            <a:ext cx="10566400" cy="4071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E07A2F"/>
          </a:solidFill>
          <a:ln/>
        </p:spPr>
      </p:sp>
      <p:sp>
        <p:nvSpPr>
          <p:cNvPr id="3" name="Text 1"/>
          <p:cNvSpPr/>
          <p:nvPr/>
        </p:nvSpPr>
        <p:spPr>
          <a:xfrm>
            <a:off x="812800" y="190376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spc="200" kern="0" dirty="0">
                <a:solidFill>
                  <a:srgbClr val="E07A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ENTREGA 1 · MINE-4101 CIENCIA DE DATOS APLICADA</a:t>
            </a:r>
            <a:endParaRPr lang="en-US" sz="15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812800" y="2424460"/>
            <a:ext cx="9810750" cy="1412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b="1" i="0" dirty="0">
                <a:solidFill>
                  <a:srgbClr val="F4F1E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Asistente bursátil para el inversor value colombiano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800" y="4065240"/>
            <a:ext cx="91567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C9D3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sola pantalla para decidir a qué precio comprar y vender, con lecturas que se pueden verificar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3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Louis Gualtero · trabajo individual · Universidad de los Andes · octubre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556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· EL PROBLEMA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3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Hoy el inversor salta entre pantallas y decide “a ojo”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51335"/>
            <a:ext cx="2863850" cy="165477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208510"/>
            <a:ext cx="241998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1F5F8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2–15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73150" y="2868910"/>
            <a:ext cx="241998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cambios de pantalla por acción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89375" y="1951335"/>
            <a:ext cx="2863850" cy="1654770"/>
          </a:xfrm>
          <a:prstGeom prst="roundRect">
            <a:avLst>
              <a:gd name="adj" fmla="val 5948"/>
            </a:avLst>
          </a:prstGeom>
          <a:solidFill>
            <a:srgbClr val="FFFFFF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46550" y="2208510"/>
            <a:ext cx="2419985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1F5F8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2–3 h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146550" y="2868910"/>
            <a:ext cx="241998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para revisar un reporte trimestral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3812480"/>
            <a:ext cx="612190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Evidencia cualitativa: un inversor y el autor, muestra no representativa. Contexto: el Mercado Global Colombiano creció 134 % entre 2024 y 2025 (BVC) y los inversionistas, 87 % desde 2023 (SFC).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61200" y="1948160"/>
            <a:ext cx="4318000" cy="3893840"/>
          </a:xfrm>
          <a:prstGeom prst="roundRect">
            <a:avLst>
              <a:gd name="adj" fmla="val 2609"/>
            </a:avLst>
          </a:prstGeom>
          <a:solidFill>
            <a:srgbClr val="1421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66000" y="2252960"/>
            <a:ext cx="381965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07A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Metas (KPI)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66000" y="2623790"/>
            <a:ext cx="381965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5 min</a:t>
            </a:r>
            <a:r>
              <a:rPr lang="en-US" sz="15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por acción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66000" y="3007965"/>
            <a:ext cx="381965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pantalla</a:t>
            </a:r>
            <a:r>
              <a:rPr lang="en-US" sz="15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en vez de varias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66000" y="3392140"/>
            <a:ext cx="381965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 1 día</a:t>
            </a:r>
            <a:r>
              <a:rPr lang="en-US" sz="15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para recalcular tras un reporte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66000" y="3776315"/>
            <a:ext cx="381965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100 %</a:t>
            </a:r>
            <a:r>
              <a:rPr lang="en-US" sz="15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de las decisiones registradas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66000" y="4160490"/>
            <a:ext cx="381965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 4 de 5</a:t>
            </a:r>
            <a:r>
              <a:rPr lang="en-US" sz="15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en claridad, confianza y explicación (sin línea base)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Detalle: docs/entrega_1/01_negocio.md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609600"/>
            <a:ext cx="4699000" cy="55245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/>
        </p:spPr>
      </p:sp>
      <p:pic>
        <p:nvPicPr>
          <p:cNvPr id="3" name="Image 0" descr="Mockup v2 del dashboard: niveles del usuario con sus lecturas fundamental, técnica y probabilística, y el panel de riesgo">    </p:cNvPr>
          <p:cNvPicPr>
            <a:picLocks noChangeAspect="1"/>
          </p:cNvPicPr>
          <p:nvPr/>
        </p:nvPicPr>
        <p:blipFill>
          <a:blip r:embed="rId1"/>
          <a:srcRect l="-14" r="-14" t="0" b="0"/>
          <a:stretch/>
        </p:blipFill>
        <p:spPr>
          <a:xfrm>
            <a:off x="819150" y="615950"/>
            <a:ext cx="4686300" cy="5511800"/>
          </a:xfrm>
          <a:prstGeom prst="roundRect">
            <a:avLst>
              <a:gd name="adj" fmla="val 2033"/>
            </a:avLst>
          </a:prstGeom>
        </p:spPr>
      </p:pic>
      <p:sp>
        <p:nvSpPr>
          <p:cNvPr id="4" name="Shape 1"/>
          <p:cNvSpPr/>
          <p:nvPr/>
        </p:nvSpPr>
        <p:spPr>
          <a:xfrm>
            <a:off x="815975" y="612775"/>
            <a:ext cx="4692650" cy="5518150"/>
          </a:xfrm>
          <a:prstGeom prst="roundRect">
            <a:avLst>
              <a:gd name="adj" fmla="val 2097"/>
            </a:avLst>
          </a:prstGeom>
          <a:noFill/>
          <a:ln w="6350">
            <a:solidFill>
              <a:srgbClr val="E2DDD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918200" y="609600"/>
            <a:ext cx="562483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556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· EL PRODUCTO</a:t>
            </a:r>
            <a:endParaRPr lang="en-US" sz="1300" dirty="0"/>
          </a:p>
        </p:txBody>
      </p:sp>
      <p:sp>
        <p:nvSpPr>
          <p:cNvPr id="6" name="Text 3"/>
          <p:cNvSpPr/>
          <p:nvPr>
            <p:ph type="title"/>
          </p:nvPr>
        </p:nvSpPr>
        <p:spPr>
          <a:xfrm>
            <a:off x="5918200" y="955030"/>
            <a:ext cx="5624830" cy="751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4213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El usuario fija 6 precios; la herramienta los lee de 3 formas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918200" y="1795711"/>
            <a:ext cx="562483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de entrada (muy barata, barata, a su múltiplo habitual) y 3 de salida (escenario negativo, base y positivo). La valoración es del usuario: la herramienta no la calcula.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18200" y="2656681"/>
            <a:ext cx="562483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 construye con tres piezas: el modelo, una API y el dashboard; en esta entrega solo se diseñan.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18200" y="3233241"/>
            <a:ext cx="5461000" cy="654645"/>
          </a:xfrm>
          <a:prstGeom prst="roundRect">
            <a:avLst>
              <a:gd name="adj" fmla="val 11640"/>
            </a:avLst>
          </a:prstGeom>
          <a:solidFill>
            <a:srgbClr val="FFFFFF"/>
          </a:solidFill>
          <a:ln/>
        </p:spPr>
      </p:sp>
      <p:sp>
        <p:nvSpPr>
          <p:cNvPr id="10" name="Shape 7"/>
          <p:cNvSpPr/>
          <p:nvPr/>
        </p:nvSpPr>
        <p:spPr>
          <a:xfrm>
            <a:off x="5918200" y="3233241"/>
            <a:ext cx="5461000" cy="654645"/>
          </a:xfrm>
          <a:custGeom>
            <a:avLst/>
            <a:gdLst/>
            <a:ahLst/>
            <a:cxnLst/>
            <a:rect l="l" t="t" r="r" b="b"/>
            <a:pathLst>
              <a:path w="5461000" h="654645">
                <a:moveTo>
                  <a:pt x="76200" y="654645"/>
                </a:moveTo>
                <a:lnTo>
                  <a:pt x="76200" y="654645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578445"/>
                </a:lnTo>
                <a:arcTo hR="76200" wR="25400" stAng="10800000" swAng="-5400000"/>
                <a:close/>
              </a:path>
            </a:pathLst>
          </a:custGeom>
          <a:solidFill>
            <a:srgbClr val="1F5F8B"/>
          </a:solidFill>
          <a:ln/>
        </p:spPr>
      </p:sp>
      <p:sp>
        <p:nvSpPr>
          <p:cNvPr id="11" name="Text 8"/>
          <p:cNvSpPr/>
          <p:nvPr/>
        </p:nvSpPr>
        <p:spPr>
          <a:xfrm>
            <a:off x="6146800" y="3322141"/>
            <a:ext cx="52062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Fundamental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146800" y="3576141"/>
            <a:ext cx="5206238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¿Ese precio es barato frente a su propia historia y su industria?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18200" y="3976787"/>
            <a:ext cx="5461000" cy="654645"/>
          </a:xfrm>
          <a:prstGeom prst="roundRect">
            <a:avLst>
              <a:gd name="adj" fmla="val 11640"/>
            </a:avLst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5918200" y="3976787"/>
            <a:ext cx="5461000" cy="654645"/>
          </a:xfrm>
          <a:custGeom>
            <a:avLst/>
            <a:gdLst/>
            <a:ahLst/>
            <a:cxnLst/>
            <a:rect l="l" t="t" r="r" b="b"/>
            <a:pathLst>
              <a:path w="5461000" h="654645">
                <a:moveTo>
                  <a:pt x="76200" y="654645"/>
                </a:moveTo>
                <a:lnTo>
                  <a:pt x="76200" y="654645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578445"/>
                </a:lnTo>
                <a:arcTo hR="76200" wR="25400" stAng="10800000" swAng="-5400000"/>
                <a:close/>
              </a:path>
            </a:pathLst>
          </a:custGeom>
          <a:solidFill>
            <a:srgbClr val="E07A2F"/>
          </a:solidFill>
          <a:ln/>
        </p:spPr>
      </p:sp>
      <p:sp>
        <p:nvSpPr>
          <p:cNvPr id="15" name="Text 12"/>
          <p:cNvSpPr/>
          <p:nvPr/>
        </p:nvSpPr>
        <p:spPr>
          <a:xfrm>
            <a:off x="6146800" y="4065687"/>
            <a:ext cx="52062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Técnica (SVM, entradas)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146800" y="4319687"/>
            <a:ext cx="5206238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Probabilidad de que el precio toque el nivel en 60 días hábiles.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918200" y="4720332"/>
            <a:ext cx="5461000" cy="654645"/>
          </a:xfrm>
          <a:prstGeom prst="roundRect">
            <a:avLst>
              <a:gd name="adj" fmla="val 11640"/>
            </a:avLst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5918200" y="4720332"/>
            <a:ext cx="5461000" cy="654645"/>
          </a:xfrm>
          <a:custGeom>
            <a:avLst/>
            <a:gdLst/>
            <a:ahLst/>
            <a:cxnLst/>
            <a:rect l="l" t="t" r="r" b="b"/>
            <a:pathLst>
              <a:path w="5461000" h="654645">
                <a:moveTo>
                  <a:pt x="76200" y="654645"/>
                </a:moveTo>
                <a:lnTo>
                  <a:pt x="76200" y="654645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578445"/>
                </a:lnTo>
                <a:arcTo hR="76200" wR="25400" stAng="10800000" swAng="-5400000"/>
                <a:close/>
              </a:path>
            </a:pathLst>
          </a:custGeom>
          <a:solidFill>
            <a:srgbClr val="6B8F71"/>
          </a:solidFill>
          <a:ln/>
        </p:spPr>
      </p:sp>
      <p:sp>
        <p:nvSpPr>
          <p:cNvPr id="19" name="Text 16"/>
          <p:cNvSpPr/>
          <p:nvPr/>
        </p:nvSpPr>
        <p:spPr>
          <a:xfrm>
            <a:off x="6146800" y="4809232"/>
            <a:ext cx="52062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421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Probabilística (salidas)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146800" y="5063232"/>
            <a:ext cx="5206238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Simulación con la historia de la acción y de su sector.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8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556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· VALIDACIÓN CON UN INVERSOR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3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El inversor pidió definiciones y una pantalla más clara; el mockup v2 responde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395190"/>
            <a:ext cx="3386634" cy="34468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395190"/>
            <a:ext cx="3386634" cy="3446810"/>
          </a:xfrm>
          <a:custGeom>
            <a:avLst/>
            <a:gdLst/>
            <a:ahLst/>
            <a:cxnLst/>
            <a:rect l="l" t="t" r="r" b="b"/>
            <a:pathLst>
              <a:path w="3386634" h="344681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285034" y="0"/>
                </a:lnTo>
                <a:arcTo hR="101600" wR="101600" stAng="16200000" swAng="5400000"/>
                <a:lnTo>
                  <a:pt x="3386634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1F5F8B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699990"/>
            <a:ext cx="296499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5F8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Aceptado en v2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6800" y="3045420"/>
            <a:ext cx="2964993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Franja “Cómo leer esta pantalla” con 8 definiciones, precio/utilidad (P/E) y precio/patrimonio (P/B) separados y una columna “% vs. precio actual”.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2634" y="2395190"/>
            <a:ext cx="3386683" cy="34468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402634" y="2395190"/>
            <a:ext cx="3386683" cy="3446810"/>
          </a:xfrm>
          <a:custGeom>
            <a:avLst/>
            <a:gdLst/>
            <a:ahLst/>
            <a:cxnLst/>
            <a:rect l="l" t="t" r="r" b="b"/>
            <a:pathLst>
              <a:path w="3386683" h="344681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285083" y="0"/>
                </a:lnTo>
                <a:arcTo hR="101600" wR="101600" stAng="16200000" swAng="5400000"/>
                <a:lnTo>
                  <a:pt x="3386683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B5561A"/>
          </a:solidFill>
          <a:ln/>
        </p:spPr>
      </p:sp>
      <p:sp>
        <p:nvSpPr>
          <p:cNvPr id="10" name="Text 8"/>
          <p:cNvSpPr/>
          <p:nvPr/>
        </p:nvSpPr>
        <p:spPr>
          <a:xfrm>
            <a:off x="4656634" y="2699990"/>
            <a:ext cx="296504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B556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se adopta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56634" y="3045420"/>
            <a:ext cx="2965044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 veredicto de “compre” o “venda”: la herramienta informa, no recomienda.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2517" y="2395190"/>
            <a:ext cx="3386683" cy="34468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7992517" y="2395190"/>
            <a:ext cx="3386683" cy="3446810"/>
          </a:xfrm>
          <a:custGeom>
            <a:avLst/>
            <a:gdLst/>
            <a:ahLst/>
            <a:cxnLst/>
            <a:rect l="l" t="t" r="r" b="b"/>
            <a:pathLst>
              <a:path w="3386683" h="3446810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3285083" y="0"/>
                </a:lnTo>
                <a:arcTo hR="101600" wR="101600" stAng="16200000" swAng="5400000"/>
                <a:lnTo>
                  <a:pt x="3386683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6B8F71"/>
          </a:solidFill>
          <a:ln/>
        </p:spPr>
      </p:sp>
      <p:sp>
        <p:nvSpPr>
          <p:cNvPr id="14" name="Text 12"/>
          <p:cNvSpPr/>
          <p:nvPr/>
        </p:nvSpPr>
        <p:spPr>
          <a:xfrm>
            <a:off x="8246517" y="2699990"/>
            <a:ext cx="296504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4F6F5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Próximo paso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46517" y="3045420"/>
            <a:ext cx="2965044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Prototipo navegable con más usuarios y medición de tiempo, pantallas y confianza.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Sesión asíncrona del 18 de octubre de 2026 · 14 observaciones · docs/entrega_1/validacion_stakeholder.md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556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· ÉTICA Y REGULACIÓN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3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La herramienta informa y nunca recomienda comprar o vender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2398365"/>
            <a:ext cx="5175250" cy="1530251"/>
          </a:xfrm>
          <a:prstGeom prst="roundRect">
            <a:avLst>
              <a:gd name="adj" fmla="val 6432"/>
            </a:avLst>
          </a:prstGeom>
          <a:solidFill>
            <a:srgbClr val="FFFFFF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63014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5F8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Asesoría de inversión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7750" y="2950170"/>
            <a:ext cx="4853051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Ley 964 de 2005 y Decreto 2555 de 2010: no recomienda, no perfila al usuario y muestra la leyenda legal en cada pantalla.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00775" y="2398365"/>
            <a:ext cx="5175250" cy="1530251"/>
          </a:xfrm>
          <a:prstGeom prst="roundRect">
            <a:avLst>
              <a:gd name="adj" fmla="val 6432"/>
            </a:avLst>
          </a:prstGeom>
          <a:solidFill>
            <a:srgbClr val="FFFFFF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2550" y="2630140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5F8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 personales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32550" y="2950170"/>
            <a:ext cx="4853051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Ley 1581 de 2012: participación voluntaria, sin datos personales ni nombre del participante.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5975" y="4138166"/>
            <a:ext cx="5175250" cy="1281361"/>
          </a:xfrm>
          <a:prstGeom prst="roundRect">
            <a:avLst>
              <a:gd name="adj" fmla="val 7681"/>
            </a:avLst>
          </a:prstGeom>
          <a:solidFill>
            <a:srgbClr val="FFFFFF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7750" y="4369941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5F8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Transparencia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47750" y="4689971"/>
            <a:ext cx="4853051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SVM lineal con pesos legibles; cada probabilidad va junto a su línea base y su desempeño.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0775" y="4138166"/>
            <a:ext cx="5175250" cy="1281361"/>
          </a:xfrm>
          <a:prstGeom prst="roundRect">
            <a:avLst>
              <a:gd name="adj" fmla="val 7681"/>
            </a:avLst>
          </a:prstGeom>
          <a:solidFill>
            <a:srgbClr val="FFFFFF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2550" y="4369941"/>
            <a:ext cx="485305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5F8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Sin trampas en los datos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2550" y="4689971"/>
            <a:ext cx="4853051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Solo datos publicados hasta cada fecha y 15 pruebas declaradas antes de ejecutarlas.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Detalle y técnicas fuera del curso: docs/entrega_1/03_etica_legal.md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8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556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· DATOS Y DISEÑO DEL ANÁLISIS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3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Seis preguntas, una hipótesis cada una, sobre datos gratuitos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344390"/>
            <a:ext cx="3386634" cy="34976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598390"/>
            <a:ext cx="296499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5F8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66800" y="2931120"/>
            <a:ext cx="2964993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Industria piloto: </a:t>
            </a:r>
            <a:r>
              <a:rPr lang="en-US" sz="14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consumo defensivo</a:t>
            </a: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21 empresas más el mercado (SPY) y el sector (XLP), desde 2009.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66800" y="4015581"/>
            <a:ext cx="2964993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Precios (yfinance), reportes financieros (SEC EDGAR) y múltiplos por industria (Damodaran).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2634" y="2344390"/>
            <a:ext cx="3386683" cy="34976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656634" y="2598390"/>
            <a:ext cx="296504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5F8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Receta de cada prueba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56634" y="2931120"/>
            <a:ext cx="2965044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Umbral útil fijado antes → H0 y H1 → intervalo de confianza del 95 % por bootstrap → decisión estadística y de negocio.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92517" y="2344390"/>
            <a:ext cx="3386683" cy="3497610"/>
          </a:xfrm>
          <a:prstGeom prst="roundRect">
            <a:avLst>
              <a:gd name="adj" fmla="val 3000"/>
            </a:avLst>
          </a:prstGeom>
          <a:solidFill>
            <a:srgbClr val="14213D"/>
          </a:solidFill>
          <a:ln/>
        </p:spPr>
      </p:sp>
      <p:sp>
        <p:nvSpPr>
          <p:cNvPr id="12" name="Text 10"/>
          <p:cNvSpPr/>
          <p:nvPr/>
        </p:nvSpPr>
        <p:spPr>
          <a:xfrm>
            <a:off x="8246517" y="2598390"/>
            <a:ext cx="296504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07A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Modelo técnico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46517" y="2931120"/>
            <a:ext cx="2965044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Etiqueta: ¿toca el nivel en 60 días hábiles? Entrena hasta 2018 y prueba desde 2019. Base a superar del SVM: AUC 0,591.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Métricas del modelo: AUC, Brier y calibración por subperíodo · docs/entrega_1/04_enfoque_analitico.md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711200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B556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· RESULTADOS DEL ANÁLISIS EXPLORATORIO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01853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i="0" dirty="0">
                <a:solidFill>
                  <a:srgbClr val="14213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Cada resultado decide una pieza de la herramienta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76350"/>
          <a:ext cx="10553700" cy="2977505"/>
        </p:xfrm>
        <a:graphic>
          <a:graphicData uri="http://schemas.openxmlformats.org/drawingml/2006/table">
            <a:tbl>
              <a:tblPr/>
              <a:tblGrid>
                <a:gridCol w="527685"/>
                <a:gridCol w="3799332"/>
                <a:gridCol w="2849499"/>
                <a:gridCol w="3377184"/>
              </a:tblGrid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Pregunta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Resultado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4F1E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Qué decide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¿Caídas fuertes más seguido que lo normal?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se rechaza H0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Panel de riesgo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E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45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¿Lo barato sube su múltiplo (precio/utilidad) más que lo caro?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 rechaza H0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Lectura fundamental, con aviso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¿Lo barato le gana al sector en 3 años?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se rechaza H0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se usa como señal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45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¿Un indicador técnico mejora la base?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hay evidencia de mejora lineal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SVM solo con magnitud; el no lineal probará los indicadores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5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¿El sector agrega información al mercado?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 rechaza H0 (confirmatoria)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Simulación acción + sector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¿Los días turbulentos vienen juntos?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 rechaza H0, magnitud incierta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Simulación por bloques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B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890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17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Asociaciones, no causas · cifras e intervalos en el reporte y en notebooks/03 y 04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E07A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 · CONCLUSIONES</a:t>
            </a:r>
            <a:endParaRPr lang="en-US" sz="13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4553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F4F1EA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Los datos ya definen cómo se construye la herramienta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395190"/>
            <a:ext cx="3386634" cy="3446810"/>
          </a:xfrm>
          <a:prstGeom prst="roundRect">
            <a:avLst>
              <a:gd name="adj" fmla="val 3000"/>
            </a:avLst>
          </a:prstGeom>
          <a:solidFill>
            <a:srgbClr val="1F2E4F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649190"/>
            <a:ext cx="296499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07A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Aprendido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66800" y="2981920"/>
            <a:ext cx="2964993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CE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Niveles medidos en volatilidad, simulación con la acción y su sector, y lectura fundamental con aviso.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02634" y="2395190"/>
            <a:ext cx="3386683" cy="3446810"/>
          </a:xfrm>
          <a:prstGeom prst="roundRect">
            <a:avLst>
              <a:gd name="adj" fmla="val 3000"/>
            </a:avLst>
          </a:prstGeom>
          <a:solidFill>
            <a:srgbClr val="1F2E4F"/>
          </a:solidFill>
          <a:ln/>
        </p:spPr>
      </p:sp>
      <p:sp>
        <p:nvSpPr>
          <p:cNvPr id="8" name="Text 6"/>
          <p:cNvSpPr/>
          <p:nvPr/>
        </p:nvSpPr>
        <p:spPr>
          <a:xfrm>
            <a:off x="4656634" y="2649190"/>
            <a:ext cx="296504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07A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Limitaciones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56634" y="2981920"/>
            <a:ext cx="2965044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CE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Una sola industria, solo empresas que existen hoy, la opinión de un solo inversor en sesión asíncrona y los KPI 1, 2 y 5 sin línea base.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92517" y="2395190"/>
            <a:ext cx="3386683" cy="3446810"/>
          </a:xfrm>
          <a:prstGeom prst="roundRect">
            <a:avLst>
              <a:gd name="adj" fmla="val 3000"/>
            </a:avLst>
          </a:prstGeom>
          <a:solidFill>
            <a:srgbClr val="1F2E4F"/>
          </a:solidFill>
          <a:ln/>
        </p:spPr>
      </p:sp>
      <p:sp>
        <p:nvSpPr>
          <p:cNvPr id="11" name="Text 9"/>
          <p:cNvSpPr/>
          <p:nvPr/>
        </p:nvSpPr>
        <p:spPr>
          <a:xfrm>
            <a:off x="8246517" y="2649190"/>
            <a:ext cx="296504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07A2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46517" y="2981920"/>
            <a:ext cx="2965044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CE3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Entrenar el SVM, construir la simulación, probar un prototipo con más usuarios y sumar otra industria.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D3E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Repositorio: github.com/louis97/asistente-financiero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sistente bursátil — Entrega 1">
  <a:themeElements>
    <a:clrScheme name="Asistente bursátil — Entrega 1">
      <a:dk1>
        <a:srgbClr val="14213D"/>
      </a:dk1>
      <a:lt1>
        <a:srgbClr val="F7F5F0"/>
      </a:lt1>
      <a:dk2>
        <a:srgbClr val="4D566A"/>
      </a:dk2>
      <a:lt2>
        <a:srgbClr val="E0E0DE"/>
      </a:lt2>
      <a:accent1>
        <a:srgbClr val="1F5F8B"/>
      </a:accent1>
      <a:accent2>
        <a:srgbClr val="E07A2F"/>
      </a:accent2>
      <a:accent3>
        <a:srgbClr val="B5561A"/>
      </a:accent3>
      <a:accent4>
        <a:srgbClr val="4A5568"/>
      </a:accent4>
      <a:accent5>
        <a:srgbClr val="6A7179"/>
      </a:accent5>
      <a:accent6>
        <a:srgbClr val="C9D3E3"/>
      </a:accent6>
      <a:hlink>
        <a:srgbClr val="0563C1"/>
      </a:hlink>
      <a:folHlink>
        <a:srgbClr val="954F72"/>
      </a:folHlink>
    </a:clrScheme>
    <a:fontScheme name="Asistente bursátil — Entrega 1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— Entrega 1</dc:title>
  <dc:subject/>
  <dc:creator/>
  <cp:lastModifiedBy/>
  <cp:revision>1</cp:revision>
  <dcterms:created xsi:type="dcterms:W3CDTF">2026-10-19T03:31:25Z</dcterms:created>
  <dcterms:modified xsi:type="dcterms:W3CDTF">2026-10-19T03:31:25Z</dcterms:modified>
</cp:coreProperties>
</file>