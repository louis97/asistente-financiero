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 (v2)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193800"/>
            <a:ext cx="288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3b. Feedback del inversor y respuesta en el mockup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2026-10-18: sesión asíncrona por mensajería con un inversor; no respondió el formulario y entregó feedback libre.</a:t>
            </a:r>
          </a:p>
          <a:p>
            <a:pPr lvl="0"/>
            <a:r>
              <a:rPr b="1"/>
              <a:t>Aceptado en v2 (H1 definiciones, H2 columnas separadas y notas aparte, H3 columna % vs. precio actual):</a:t>
            </a:r>
            <a:r>
              <a:rPr/>
              <a:t> franja “Cómo leer esta pantalla” con 8 definiciones de una línea (incluye SVM); P/E y P/B en columnas separadas; columna “% vs. precio actual”; panel de riesgo con 5 filas espaciadas; marca descriptiva del precio actual sin veredicto.</a:t>
            </a:r>
          </a:p>
          <a:p>
            <a:pPr lvl="0"/>
            <a:r>
              <a:rPr b="1"/>
              <a:t>No se adopta (H4):</a:t>
            </a:r>
            <a:r>
              <a:rPr/>
              <a:t> el “veredicto” que pidió el participante choca con RN1 y con la regla de no recomendar.</a:t>
            </a:r>
          </a:p>
          <a:p>
            <a:pPr lvl="0"/>
            <a:r>
              <a:rPr b="1"/>
              <a:t>Aplazado al punto 7 (H5):</a:t>
            </a:r>
            <a:r>
              <a:rPr/>
              <a:t> prototipo navegable con más usuarios y medición de los KPI 1, 2 y 5 (sin línea base en esta sesión).</a:t>
            </a:r>
          </a:p>
          <a:p>
            <a:pPr lvl="0"/>
            <a:r>
              <a:rPr/>
              <a:t>Técnica (SVM, “se entrena en la entrega 2”): </a:t>
            </a:r>
            <a:r>
              <a:rPr b="1"/>
              <a:t>21 / 42 / 71 %</a:t>
            </a:r>
            <a:r>
              <a:rPr/>
              <a:t> frente a línea base </a:t>
            </a:r>
            <a:r>
              <a:rPr b="1"/>
              <a:t>16 / 35 / 66 %</a:t>
            </a:r>
            <a:r>
              <a:rPr/>
              <a:t>. Probabilística: </a:t>
            </a:r>
            <a:r>
              <a:rPr b="1"/>
              <a:t>81 / 62 / 37 %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en la validación asíncrona del 2026-10-18 el participante participó de forma voluntaria y no se recogieron datos personales ni su nombre; el guion prevé consentimiento previo e informado bajo código para las sesiones moderadas futuras (ver </a:t>
            </a:r>
            <a:r>
              <a:rPr>
                <a:latin typeface="Courier New"/>
              </a:rPr>
              <a:t>docs/entrega_1/03_etica_legal.md</a:t>
            </a:r>
            <a:r>
              <a:rPr/>
              <a:t> §3.2).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 New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Plantilla por hipótesis:</a:t>
            </a:r>
            <a:r>
              <a:rPr/>
              <a:t> umbral → H0/H1 → IC95 por bootstrap → decisión.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9431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magnitud, con línea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Qué mide P1 y qué es el P/E normalizado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 New"/>
              </a:rPr>
              <a:t>z &lt; −2</a:t>
            </a:r>
            <a:r>
              <a:rPr/>
              <a:t>). Con retornos normales y σ conocida pasaría en el 2,3 % de las semanas (≈ 1 de cada 44, ≈ 1,2/año); con σ estimada, la tasa comparable calibrada por simulación es ≈ 2,55 % (≈ 1 de cada 39, ≈ 1,3/año). El umbral de 3,83 % (≈ 1 de cada 26, ≈ 2/año) agotaría más seguido el presupuesto de pérdida.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 New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(≈ 1,6/año) · [2,46; 3,92] % (≈ 1,3–2,0/año)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 New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P4; validación del mockup con un solo inversor, asíncrona, y KPI 1, 2 y 5 sin línea base.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</a:t>
            </a:r>
            <a:r>
              <a:rPr b="1"/>
              <a:t>prototipo navegable con más usuarios</a:t>
            </a:r>
            <a:r>
              <a:rPr/>
              <a:t> y medición de KPI,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2026-10-18T22:55:57Z</dcterms:created>
  <dcterms:modified xsi:type="dcterms:W3CDTF">2026-10-18T22:55:57Z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mainfont">
    <vt:lpwstr>Arial Unicode MS</vt:lpwstr>
  </property>
  <property fmtid="{D5CDD505-2E9C-101B-9397-08002B2CF9AE}" pid="6" name="monofont">
    <vt:lpwstr>Courier New</vt:lpwstr>
  </property>
  <property fmtid="{D5CDD505-2E9C-101B-9397-08002B2CF9AE}" pid="7" name="sansfont">
    <vt:lpwstr>Arial Unicode MS</vt:lpwstr>
  </property>
  <property fmtid="{D5CDD505-2E9C-101B-9397-08002B2CF9AE}" pid="8" name="subtitle">
    <vt:lpwstr>Entrega 1 · MINE-4101 Ciencia de Datos Aplicada · Universidad de los Andes</vt:lpwstr>
  </property>
  <property fmtid="{D5CDD505-2E9C-101B-9397-08002B2CF9AE}" pid="9" name="theme">
    <vt:lpwstr>default</vt:lpwstr>
  </property>
</Properties>
</file>