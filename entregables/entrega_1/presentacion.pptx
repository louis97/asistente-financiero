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Louis Gualtero · MINE-4101 · Entrega 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Inversor value colombiano que compra acciones de EE.UU.: screener, fundamentales y gráfico en pantallas separadas</a:t>
            </a:r>
          </a:p>
          <a:p>
            <a:pPr lvl="0"/>
            <a:r>
              <a:rPr/>
              <a:t>De 2 a 15 cambios de pantalla por activo; 2 a 3 horas tras cada reporte trimestral</a:t>
            </a:r>
          </a:p>
          <a:p>
            <a:pPr lvl="0"/>
            <a:r>
              <a:rPr/>
              <a:t>Riesgo medido “a ojo”; sin registro de decisiones</a:t>
            </a:r>
          </a:p>
          <a:p>
            <a:pPr lvl="0"/>
            <a:r>
              <a:rPr/>
              <a:t>KPIs: &lt; 5 min por activo, 1 pantalla, latencia ≤ 1 día, 100 % de decisiones registradas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Ideación: seis niveles, tres lecturas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60600" y="1193800"/>
            <a:ext cx="462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Validación con el stakeholder: pendiente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 recomendación de compra o venta (Ley 964 de 2005); aviso en cada pantalla</a:t>
            </a:r>
          </a:p>
          <a:p>
            <a:pPr lvl="0"/>
            <a:r>
              <a:rPr/>
              <a:t>Datos personales anonimizados (Ley 1581 de 2012)</a:t>
            </a:r>
          </a:p>
          <a:p>
            <a:pPr lvl="0"/>
            <a:r>
              <a:rPr/>
              <a:t>SVM lineal explicable, con línea base GBM y error histórico</a:t>
            </a:r>
          </a:p>
          <a:p>
            <a:pPr lvl="0"/>
            <a:r>
              <a:rPr/>
              <a:t>Sin look-ahead: fecha </a:t>
            </a:r>
            <a:r>
              <a:rPr>
                <a:latin typeface="Courier"/>
              </a:rPr>
              <a:t>filed</a:t>
            </a:r>
            <a:r>
              <a:rPr/>
              <a:t>, purga y embargo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Enfoque analítico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Preguntas de negocio a hipótesis HT, HF y HP con H0 y H1</a:t>
            </a:r>
          </a:p>
          <a:p>
            <a:pPr lvl="0"/>
            <a:r>
              <a:rPr/>
              <a:t>Etiqueta de triple barrera solo-largo (k = 1, N = 12)</a:t>
            </a:r>
          </a:p>
          <a:p>
            <a:pPr lvl="0"/>
            <a:r>
              <a:rPr/>
              <a:t>Validación walk-forward con purga y embargo</a:t>
            </a:r>
          </a:p>
          <a:p>
            <a:pPr lvl="0"/>
            <a:r>
              <a:rPr/>
              <a:t>Cuatro líneas base; IC bootstrap para declarar una hipótesis apoyada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yfinance, SEC EDGAR y Damodaran (gratuitos)</a:t>
            </a:r>
          </a:p>
          <a:p>
            <a:pPr lvl="0"/>
            <a:r>
              <a:rPr/>
              <a:t>30 acciones y 4 ETF; 27 326 filas semanales desde 2009</a:t>
            </a:r>
          </a:p>
          <a:p>
            <a:pPr lvl="0"/>
            <a:r>
              <a:rPr/>
              <a:t>Utilidad bruta presente en solo 14 de 30 emisores</a:t>
            </a:r>
          </a:p>
          <a:p>
            <a:pPr lvl="0"/>
            <a:r>
              <a:rPr/>
              <a:t>EDGAR coincide en 6 de 6 con el 10-K de AAPL, KO y JPM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EDA: riesgo y colas</a:t>
            </a:r>
          </a:p>
        </p:txBody>
      </p:sp>
      <p:pic>
        <p:nvPicPr>
          <p:cNvPr descr="assets/vol_ewma_g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79600"/>
            <a:ext cx="8229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ν mediano 4.15; GARCH-t gana en 28 de 34 series (HP0, HT4 apoyadas)</a:t>
            </a:r>
          </a:p>
          <a:p>
            <a:pPr lvl="0"/>
            <a:r>
              <a:rPr/>
              <a:t>Caminata aleatoria: pasan 15 de 30 (HT0 no apoyada); P_GBM no calibrada</a:t>
            </a:r>
          </a:p>
          <a:p>
            <a:pPr lvl="0"/>
            <a:r>
              <a:rPr/>
              <a:t>VaR: GARCH-t adecuado en 14 de 30 (HP1 no apoyada)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EDA: señal débil, sector fuerte</a:t>
            </a:r>
          </a:p>
        </p:txBody>
      </p:sp>
      <p:pic>
        <p:nvPicPr>
          <p:cNvPr descr="assets/nb04_auc_por_regim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38300"/>
            <a:ext cx="8229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AUC por indicador 0.496–0.514 (HT2 no concluyente, HT3 no apoyada)</a:t>
            </a:r>
          </a:p>
          <a:p>
            <a:pPr lvl="0"/>
            <a:r>
              <a:rPr/>
              <a:t>Sector R² mediano 0.525 (HP3 apoyada)</a:t>
            </a:r>
          </a:p>
          <a:p>
            <a:pPr lvl="0"/>
            <a:r>
              <a:rPr/>
              <a:t>Múltiplos revierten en 7 de 29 (HF1) y 10 de 29 (HF2), no apoyadas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Indicadores técnicos solos: señal débil; la probabilidad depende de σ y del régimen</a:t>
            </a:r>
          </a:p>
          <a:p>
            <a:pPr lvl="0"/>
            <a:r>
              <a:rPr/>
              <a:t>Diseño: GARCH-t con innovaciones t, línea base GBM con deriva (no calibrada, rival justo), múltiplos como contexto</a:t>
            </a:r>
          </a:p>
          <a:p>
            <a:pPr lvl="0"/>
            <a:r>
              <a:rPr/>
              <a:t>Siguiente: SVM walk-forward (HT1 preparada, no probada), Monte Carlo, validación con el stakeholder</a:t>
            </a:r>
          </a:p>
          <a:p>
            <a:pPr lvl="0"/>
            <a:r>
              <a:rPr/>
              <a:t>Repositorio: github.com/louis97/asistente-financiero (rama entrega-1). Video: pendiente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MINE-4101 · Entrega 1</dc:creator>
  <cp:keywords/>
  <dcterms:created xsi:type="dcterms:W3CDTF">2026-10-14T16:43:11Z</dcterms:created>
  <dcterms:modified xsi:type="dcterms:W3CDTF">2026-10-14T16:43:11Z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