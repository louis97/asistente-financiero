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 (v2)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193800"/>
            <a:ext cx="288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3b. Feedback del inversor y respuesta en el mockup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2026-10-18: sesión asíncrona por mensajería con un inversor; no respondió el formulario y entregó feedback libre.</a:t>
            </a:r>
          </a:p>
          <a:p>
            <a:pPr lvl="0"/>
            <a:r>
              <a:rPr b="1"/>
              <a:t>Aceptado en v2 (H1 definiciones, H2 columnas separadas y notas aparte, H3 columna % vs. precio actual):</a:t>
            </a:r>
            <a:r>
              <a:rPr/>
              <a:t> franja “Cómo leer esta pantalla” con 7 definiciones de una línea; P/E y P/B en columnas separadas; columna “% vs. precio actual”; panel de riesgo con 5 filas espaciadas; marca descriptiva del precio actual sin veredicto.</a:t>
            </a:r>
          </a:p>
          <a:p>
            <a:pPr lvl="0"/>
            <a:r>
              <a:rPr b="1"/>
              <a:t>No se adopta (H4):</a:t>
            </a:r>
            <a:r>
              <a:rPr/>
              <a:t> el “veredicto” que pidió el participante choca con RN1 y con la regla de no recomendar.</a:t>
            </a:r>
          </a:p>
          <a:p>
            <a:pPr lvl="0"/>
            <a:r>
              <a:rPr b="1"/>
              <a:t>Aplazado al punto 7 (H5):</a:t>
            </a:r>
            <a:r>
              <a:rPr/>
              <a:t> prototipo navegable con más usuarios y medición de los KPI 1, 2 y 5 (sin línea base en esta sesión).</a:t>
            </a:r>
          </a:p>
          <a:p>
            <a:pPr lvl="0"/>
            <a:r>
              <a:rPr/>
              <a:t>Técnica (SVM, “se entrena en la entrega 2”): </a:t>
            </a:r>
            <a:r>
              <a:rPr b="1"/>
              <a:t>21 / 42 / 71 %</a:t>
            </a:r>
            <a:r>
              <a:rPr/>
              <a:t> frente a línea base </a:t>
            </a:r>
            <a:r>
              <a:rPr b="1"/>
              <a:t>16 / 35 / 66 %</a:t>
            </a:r>
            <a:r>
              <a:rPr/>
              <a:t>. Probabilística: </a:t>
            </a:r>
            <a:r>
              <a:rPr b="1"/>
              <a:t>81 / 62 / 37 %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anonimización del participante y autorización verificable.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 New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Decide en la herramienta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fuertes &gt;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riesgo: “frecuencia de caídas fuertes”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sube P/E norm. &gt; caro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fundam.: percentil P/E norm. + adv. deterioro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Exceso sobre XLP </a:t>
                      </a:r>
                      <a:r>
                        <a:rPr b="1"/>
                        <a:t>no entra como señal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¿Indicador técnico mejora la AUC base?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técnica: SVM solo de magnitud, con línea 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 + simulación acción + XLP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probab.: simulación por bloques, k·σ252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354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Plantilla por hipótesis: umbral → H0/H1 → IC95 por bootstrap → decisión.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5b. P1 y P/E normalizado en palabras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Caída semanal fuerte (P1):</a:t>
            </a:r>
            <a:r>
              <a:rPr/>
              <a:t> semana en que la acción cae más de 2 veces su volatilidad semanal del último año (</a:t>
            </a:r>
            <a:r>
              <a:rPr>
                <a:latin typeface="Courier New"/>
              </a:rPr>
              <a:t>z &lt; −2</a:t>
            </a:r>
            <a:r>
              <a:rPr/>
              <a:t>). Con retornos normales y σ conocida pasaría en el 2,3 % de las semanas; con σ estimada, la tasa comparable calibrada por simulación es ≈ 2,55 %. P1 pregunta si en el piloto pasa más.</a:t>
            </a:r>
          </a:p>
          <a:p>
            <a:pPr lvl="0"/>
            <a:r>
              <a:rPr b="1"/>
              <a:t>P/E normalizado:</a:t>
            </a:r>
            <a:r>
              <a:rPr/>
              <a:t> precio ÷ </a:t>
            </a:r>
            <a:r>
              <a:rPr b="1"/>
              <a:t>EPS promedio de 3 años</a:t>
            </a:r>
            <a:r>
              <a:rPr/>
              <a:t> (utilidad neta de 12 trimestres ÷ 3 ÷ acciones). Evita que un solo año excepcional haga parecer barata o cara una acción.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 New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· [2,46; 3,92] %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Precio aporta +0,15 (IC excluye 0); EPS promedio −0,15 (IC cruza 0). nb04 §2.7–§2.8.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supera la línea base por decil de σ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 IC95 (Bonferroni ≈ 99,3 %) cruzan 0; AUC base </a:t>
            </a:r>
            <a:r>
              <a:rPr b="1"/>
              <a:t>0,591</a:t>
            </a:r>
            <a:r>
              <a:rPr/>
              <a:t> con N = 60. Consecuencia: </a:t>
            </a:r>
            <a:r>
              <a:rPr>
                <a:latin typeface="Courier New"/>
              </a:rPr>
              <a:t>variables_svm = {|r_t|, σ20/σ252, σ252}</a:t>
            </a:r>
            <a:r>
              <a:rPr/>
              <a:t>. nb04 §5.3.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fuga de selección en P4; validación del mockup con un solo inversor, asíncrona, y KPI 1, 2 y 5 sin línea base.</a:t>
            </a:r>
          </a:p>
          <a:p>
            <a:pPr lvl="0"/>
            <a:r>
              <a:rPr b="1"/>
              <a:t>Próximos pasos</a:t>
            </a:r>
            <a:r>
              <a:rPr/>
              <a:t>: entrenar el SVM con corte cronológico, simulación por bloques, </a:t>
            </a:r>
            <a:r>
              <a:rPr b="1"/>
              <a:t>prototipo navegable con más usuarios</a:t>
            </a:r>
            <a:r>
              <a:rPr/>
              <a:t> y medición de KPI,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pendiente de subir.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2026-10-18T19:49:28Z</dcterms:created>
  <dcterms:modified xsi:type="dcterms:W3CDTF">2026-10-18T19:49:28Z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mainfont">
    <vt:lpwstr>Arial Unicode MS</vt:lpwstr>
  </property>
  <property fmtid="{D5CDD505-2E9C-101B-9397-08002B2CF9AE}" pid="6" name="monofont">
    <vt:lpwstr>Courier New</vt:lpwstr>
  </property>
  <property fmtid="{D5CDD505-2E9C-101B-9397-08002B2CF9AE}" pid="7" name="sansfont">
    <vt:lpwstr>Arial Unicode MS</vt:lpwstr>
  </property>
  <property fmtid="{D5CDD505-2E9C-101B-9397-08002B2CF9AE}" pid="8" name="subtitle">
    <vt:lpwstr>Entrega 1 · MINE-4101 Ciencia de Datos Aplicada · Universidad de los Andes</vt:lpwstr>
  </property>
  <property fmtid="{D5CDD505-2E9C-101B-9397-08002B2CF9AE}" pid="9" name="theme">
    <vt:lpwstr>default</vt:lpwstr>
  </property>
</Properties>
</file>